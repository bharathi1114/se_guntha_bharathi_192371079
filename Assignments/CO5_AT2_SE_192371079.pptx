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85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02432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8" name="Shape 6"/>
          <p:cNvSpPr/>
          <p:nvPr/>
        </p:nvSpPr>
        <p:spPr>
          <a:xfrm>
            <a:off x="973836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9" name="Shape 7"/>
          <p:cNvSpPr/>
          <p:nvPr/>
        </p:nvSpPr>
        <p:spPr>
          <a:xfrm>
            <a:off x="1014984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6132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84280" y="548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91540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973836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4984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84280" y="10058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768096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244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540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7" name="Shape 25"/>
          <p:cNvSpPr/>
          <p:nvPr/>
        </p:nvSpPr>
        <p:spPr>
          <a:xfrm>
            <a:off x="932688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973836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4984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6132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84280" y="14630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244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6" name="Shape 34"/>
          <p:cNvSpPr/>
          <p:nvPr/>
        </p:nvSpPr>
        <p:spPr>
          <a:xfrm>
            <a:off x="891540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7" name="Shape 35"/>
          <p:cNvSpPr/>
          <p:nvPr/>
        </p:nvSpPr>
        <p:spPr>
          <a:xfrm>
            <a:off x="932688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8" name="Shape 36"/>
          <p:cNvSpPr/>
          <p:nvPr/>
        </p:nvSpPr>
        <p:spPr>
          <a:xfrm>
            <a:off x="973836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4984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132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7280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84280" y="19202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3" name="Shape 41"/>
          <p:cNvSpPr/>
          <p:nvPr/>
        </p:nvSpPr>
        <p:spPr>
          <a:xfrm>
            <a:off x="768096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09244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6" name="Shape 44"/>
          <p:cNvSpPr/>
          <p:nvPr/>
        </p:nvSpPr>
        <p:spPr>
          <a:xfrm>
            <a:off x="891540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7" name="Shape 45"/>
          <p:cNvSpPr/>
          <p:nvPr/>
        </p:nvSpPr>
        <p:spPr>
          <a:xfrm>
            <a:off x="932688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8" name="Shape 46"/>
          <p:cNvSpPr/>
          <p:nvPr/>
        </p:nvSpPr>
        <p:spPr>
          <a:xfrm>
            <a:off x="973836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4984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6132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1" name="Shape 49"/>
          <p:cNvSpPr/>
          <p:nvPr/>
        </p:nvSpPr>
        <p:spPr>
          <a:xfrm>
            <a:off x="1097280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384280" y="23774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3" name="Shape 51"/>
          <p:cNvSpPr/>
          <p:nvPr/>
        </p:nvSpPr>
        <p:spPr>
          <a:xfrm>
            <a:off x="768096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4" name="Shape 52"/>
          <p:cNvSpPr/>
          <p:nvPr/>
        </p:nvSpPr>
        <p:spPr>
          <a:xfrm>
            <a:off x="809244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5" name="Shape 53"/>
          <p:cNvSpPr/>
          <p:nvPr/>
        </p:nvSpPr>
        <p:spPr>
          <a:xfrm>
            <a:off x="850392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6" name="Shape 54"/>
          <p:cNvSpPr/>
          <p:nvPr/>
        </p:nvSpPr>
        <p:spPr>
          <a:xfrm>
            <a:off x="891540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7" name="Shape 55"/>
          <p:cNvSpPr/>
          <p:nvPr/>
        </p:nvSpPr>
        <p:spPr>
          <a:xfrm>
            <a:off x="932688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8" name="Shape 56"/>
          <p:cNvSpPr/>
          <p:nvPr/>
        </p:nvSpPr>
        <p:spPr>
          <a:xfrm>
            <a:off x="973836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14984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60" name="Shape 58"/>
          <p:cNvSpPr/>
          <p:nvPr/>
        </p:nvSpPr>
        <p:spPr>
          <a:xfrm>
            <a:off x="1056132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7280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62" name="Shape 60"/>
          <p:cNvSpPr/>
          <p:nvPr/>
        </p:nvSpPr>
        <p:spPr>
          <a:xfrm>
            <a:off x="11384280" y="2834640"/>
            <a:ext cx="82296" cy="82296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S.No. 13  ·  CO5 SEMINAR ON EMERGING TECHNOLOGIES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94360" y="18745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Post-Quantum</a:t>
            </a:r>
            <a:endParaRPr lang="en-US" sz="5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5200" dirty="0"/>
          </a:p>
        </p:txBody>
      </p:sp>
      <p:sp>
        <p:nvSpPr>
          <p:cNvPr id="65" name="Text 63"/>
          <p:cNvSpPr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digital trust against the coming quantum threat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40080" y="4617720"/>
            <a:ext cx="14630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50383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(CSA1063)  •  CO5 Assessment Tool 2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0080" y="5370327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: </a:t>
            </a:r>
            <a:r>
              <a:rPr lang="en-US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GUNTHA BHARATHI</a:t>
            </a:r>
            <a:r>
              <a:rPr lang="en-US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Reg. No.:192371079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EMERGING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built to survive the quantum computer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(PQC) 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new generation of cryptographic algorithms — key exchange, encryption, and digital signatures — designed to remain secure even against an attacker with a large-scale, fault-tolerant quantum computer.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quantum cryptography (e.g. QKD), which needs special quantum hardware,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runs on today's classical computers, phones, and servers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simply changes the hard math problem the security rests 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0" y="178308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CFE8EF"/>
          </a:solidFill>
          <a:ln/>
          <a:effectLst>
            <a:outerShdw blurRad="76200" dist="25400" dir="5400000" algn="bl" rotWithShape="0">
              <a:srgbClr val="AAAAA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(U.S. National Institute of Standards and Technology)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standards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3392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203, 204, 205 — finalized Aug 2024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0" y="3849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addressed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4105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breaking RSA / ECC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0" y="4562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4818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Lattices, hash functions, error-correcting codes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0" y="5276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global migration underway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AND MOTIVATION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classical public-key cryptography is running out of time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Shor's Algorithm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sufficiently large quantum computer can factor large integers and solve discrete logarithms efficiently — breaking RSA, Diffie-Hellman, and Elliptic-Curve Cryptography (ECC).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“Harvest Now, Decrypt Later”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can record encrypted traffic today and decrypt it once a capable quantum computer exists — a real risk for data that must stay secret for decades.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Everywhere, right now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RSA/ECC secure TLS, VPNs, banking, government IDs, and code-signing — a break would compromise the trust backbone of the internet.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estimate: a cryptographically relevant quantum computer capable of breaking RSA-2048 could plausibly emerge within the 2030s — migration timelines for large systems already run longer than that.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/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problems that stay hard, even for a quantum computer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replaces the factoring / discrete-log problems (easy for quantum computers) with problems believed to resist both classical and quantum attack: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CFE8E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Lattice Problems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(Learning With Errors)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shortest vector in a high-dimensional lattice — used by ML-KEM &amp; ML-DSA. Fast and compact.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CFE8E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Hash-Based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(Merkle trees)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1089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rests only on a cryptographic hash function being one-way — used by SLH-DSA. Very conservative, well-understood.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CFE8E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Code-Based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(Error-correcting codes)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 random linear code is hard — used by HQC as a structurally different backup KEM.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architecture: Hybrid Key Exchange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956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(X25519 / ECDHE)  +  Post-Quantum (ML-KEM)  →  combined shared secret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stays secure even if either algorithm alone is later broken — the migration strategy adopted in TLS 1.3 by browsers and CDNs.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AND TECHNOLOGIES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NIST's standardized algorithm toolkit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128016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16459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493776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1828800"/>
            <a:ext cx="16459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3716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2194560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Encapsulation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49377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encryption / key exchange (from CRYSTALS-Kyber)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0" y="2194560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Aug 2024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137160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2761488"/>
            <a:ext cx="128016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761488"/>
            <a:ext cx="164592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2761488"/>
            <a:ext cx="493776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signing (from CRYSTALS-Dilithium)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0" y="2761488"/>
            <a:ext cx="164592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Aug 2024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13716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3328416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SLH-DSA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328416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3328416"/>
            <a:ext cx="49377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hash-based backup (from SPHINCS+)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0" y="3328416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Aug 2024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895344"/>
            <a:ext cx="137160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20240" y="3895344"/>
            <a:ext cx="128016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FN-DSA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895344"/>
            <a:ext cx="164592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3895344"/>
            <a:ext cx="493776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signatures for constrained bandwidth (from FALCON)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058400" y="3895344"/>
            <a:ext cx="1645920" cy="566928"/>
          </a:xfrm>
          <a:prstGeom prst="rect">
            <a:avLst/>
          </a:prstGeom>
          <a:solidFill>
            <a:srgbClr val="CFE8E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462272"/>
            <a:ext cx="13716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920240" y="4462272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91840" y="4462272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Encapsulation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0" y="4462272"/>
            <a:ext cx="49377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backup KEM, different math from ML-KEM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462272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Mar 2025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/ REAL-WORLD USE CASES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shipping in production systems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CFE8E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11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Browsers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Firefox enable hybrid X25519+ML-KEM for TLS by default; Cloudflare and Google secure a large share of HTTPS traffic this 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3F0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11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Messaging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Signal's PQXDH protocol adds ML-KEM to its key-exchange handshake to protect against future decryption of stored messages.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CFE8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011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24H2 built ML-KEM directly into its Cryptography Next Generation (CNG) API for native app support.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3F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297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681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Federal IT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580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NIST/OMB mandate PQC migration for U.S. federal systems; PIV identity credentials are being updated to use ML-DSA and ML-KEM.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114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CFE8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297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681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VPNs &amp; Enterprise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8056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VPN vendors ship hybrid post-quantum tunnels to protect long-lived confidential traffic.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1148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3F0F5"/>
          </a:solidFill>
          <a:ln/>
        </p:spPr>
      </p:sp>
      <p:sp>
        <p:nvSpPr>
          <p:cNvPr id="27" name="Shape 25"/>
          <p:cNvSpPr/>
          <p:nvPr/>
        </p:nvSpPr>
        <p:spPr>
          <a:xfrm>
            <a:off x="8275320" y="4297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4681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Signing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27532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vendors pilot ML-DSA / SLH-DSA for signing firmware and updates that must remain trustworthy for years.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of the quantum-safe transition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4F3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Resists both classical and quantum cryptanalysis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13639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1363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existing classical hardware — no special equipment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diversity (lattice, hash, code-based) avoids single-point failure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3799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79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 allows gradual, low-risk migration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00176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001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rigorous, multi-year NIST public evaluation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BE9E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514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keys and signatures than RSA/ECC (bandwidth &amp; storage cost)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13639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1363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computational overhead on constrained devices (IoT, smart cards)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75818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7581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math — shorter track record of cryptanalysis than RSA/ECC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3799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379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candidate schemes have been broken during evaluation (e.g. Rainbow, SIKE)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0176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5001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ecosystem migration (protocols, hardware, standards) will take years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DEVELOPMENTS AND TRENDS (2025–2026)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migration is accelerating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750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470660" y="301752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203, 204, 205 finalized — ML-KEM, ML-DSA, SLH-DSA become official U.S. standards.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154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4700" y="329184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438400" y="356616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38400" y="384048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 selected as a second, code-based backup KEM to complement ML-KEM.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558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8740" y="301752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282440" y="19202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82440" y="219456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production adoption — many vendors ship NIST-compliant PQC by early 2026.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2962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7002780" y="329184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126480" y="356616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advances 9 candidate algorithms (incl. SQIsign, MAYO, SNOVA) to Round 3 of the additional digital-signatures process.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366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8846820" y="301752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970520" y="19202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70520" y="219456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releases draft PQC updates to the PIV standard for U.S. federal identity credentials.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17708" y="321868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90860" y="329184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814560" y="356616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814560" y="3840480"/>
            <a:ext cx="1752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206 (FN-DSA) finalization expected; 7th PQC Standardization Conference planned for 2027.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/ EXAMPLE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&amp; Chrome: Hybrid Post-Quantum TLS at Internet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766560" cy="4160520"/>
          </a:xfrm>
          <a:prstGeom prst="roundRect">
            <a:avLst>
              <a:gd name="adj" fmla="val 2198"/>
            </a:avLst>
          </a:prstGeom>
          <a:solidFill>
            <a:srgbClr val="CFE8E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terminates TLS for millions of websites. Since 2023 it has enabled X25519Kyber768 (now X25519MLKEM768) hybrid key exchange, combining classical elliptic-curve Diffie-Hellman with the post-quantum ML-KEM.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ML-KEM ever has an undiscovered weakness, the classical component still protects the session; if a quantum computer ever breaks the classical component, ML-KEM still protects it. The connection is only as weak as the stronger algorithm.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1663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enabled this by default from version 124 onward; a large share of the web's HTTPS traffic is already quantum-resistant against “harvest now, decrypt later” attacks — with negligible latency impact.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7830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HANDSHAKE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242316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55480" y="3017520"/>
            <a:ext cx="0" cy="274320"/>
          </a:xfrm>
          <a:prstGeom prst="line">
            <a:avLst/>
          </a:prstGeom>
          <a:noFill/>
          <a:ln w="19050">
            <a:solidFill>
              <a:srgbClr val="CFE8E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333756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3337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(classical) + ML-KEM (PQ) key shares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55480" y="3931920"/>
            <a:ext cx="0" cy="274320"/>
          </a:xfrm>
          <a:prstGeom prst="line">
            <a:avLst/>
          </a:prstGeom>
          <a:noFill/>
          <a:ln w="19050">
            <a:solidFill>
              <a:srgbClr val="CFE8E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425196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4251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shared secret derived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55480" y="4846320"/>
            <a:ext cx="0" cy="274320"/>
          </a:xfrm>
          <a:prstGeom prst="line">
            <a:avLst/>
          </a:prstGeom>
          <a:noFill/>
          <a:ln w="19050">
            <a:solidFill>
              <a:srgbClr val="CFE8E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80960" y="516636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5166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between here and a quantum-safe internet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Migration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protocol, library, certificate, and piece of hardware that uses RSA/ECC needs updating — a multi-year, organization-wide effort.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3F0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Resource-Constrained Devices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keys/signatures strain low-power IoT devices, smart cards, and embedded systems with tight memory and bandwidth.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Agility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must be built so algorithms can be swapped quickly if a scheme is later found weak — without redesigning the whole 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3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Still Maturing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206 and additional signature schemes are still in draft/evaluation — organizations must plan around a moving target.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quantum-resistant hardware security modules, PQC in constrained IoT protocols, continued algorithm diversification, and full federal/enterprise migration through the late 2020s.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Quantum-safe cryptography is no longer optional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threaten the RSA/ECC foundations of today's digital trust — and “harvest now, decrypt later” makes the threat urgent today, not just in the future.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4495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NIST's finalized standards (ML-KEM, ML-DSA, SLH-DSA) give the industry a concrete, well-vetted toolkit, with FN-DSA and HQC extending it further.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410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 lets organizations adopt PQC now with minimal risk, and major platforms (Chrome, Cloudflare, Signal, Windows) are already doing so.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3717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challenge ahead is execution: migrating a vast, decades-old cryptographic ecosystem — with agility — before large-scale quantum computers arrive.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(CONT'D)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“Module-Lattice-Based Key-Encapsulation Mechanism Standard,” FIPS 203, Aug 2024.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“Module-Lattice-Based Digital Signature Standard,” FIPS 204, Aug 2024.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7980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“Stateless Hash-Based Digital Signature Standard,” FIPS 205, Aug 2024.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3284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CSRC, “Post-Quantum Cryptography Standardization Process,” csrc.nist.gov/projects/post-quantum-cryptography.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858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“NIST Advances 9 Candidates to the 3rd Round of Additional PQC Digital Signatures,” IR 8610, May 2026.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“Working Drafts: Post-Quantum Cryptography Updates to the PIV Standards,” Jun 2026.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919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9194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Blog, “The state of the post-quantum Internet,” and Chrome Platform Status, X25519Kyber768/ML-KEM hybrid TLS.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498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54498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Foundation, “The PQXDH Key Agreement Protocol.”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|  S.No.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1665</Words>
  <Application>Microsoft Office PowerPoint</Application>
  <PresentationFormat>Widescreen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Guntha Bharathi</cp:lastModifiedBy>
  <cp:revision>2</cp:revision>
  <dcterms:created xsi:type="dcterms:W3CDTF">2026-09-01T04:01:06Z</dcterms:created>
  <dcterms:modified xsi:type="dcterms:W3CDTF">2026-09-01T05:13:11Z</dcterms:modified>
</cp:coreProperties>
</file>